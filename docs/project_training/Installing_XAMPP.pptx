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462" r:id="rId2"/>
    <p:sldId id="495" r:id="rId3"/>
    <p:sldId id="476" r:id="rId4"/>
    <p:sldId id="463" r:id="rId5"/>
    <p:sldId id="489" r:id="rId6"/>
  </p:sldIdLst>
  <p:sldSz cx="9144000" cy="6858000" type="screen4x3"/>
  <p:notesSz cx="6991350" cy="9282113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2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9191"/>
    <a:srgbClr val="FF3300"/>
    <a:srgbClr val="868686"/>
    <a:srgbClr val="777777"/>
    <a:srgbClr val="DDDDDD"/>
    <a:srgbClr val="CBCBCB"/>
    <a:srgbClr val="001454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1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2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466725" y="8466138"/>
            <a:ext cx="6135688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653" tIns="47327" rIns="94653" bIns="47327">
            <a:spAutoFit/>
          </a:bodyPr>
          <a:lstStyle/>
          <a:p>
            <a:pPr algn="ctr" defTabSz="939800" eaLnBrk="0" hangingPunct="0">
              <a:defRPr/>
            </a:pPr>
            <a:endParaRPr lang="en-US" sz="11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23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18B7429-D64D-41C4-B7DA-5B48ACDF2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6900"/>
            <a:ext cx="512762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7259" tIns="38630" rIns="77259" bIns="38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8500"/>
            <a:ext cx="4640263" cy="347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556375" y="8904288"/>
            <a:ext cx="34925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7259" tIns="38630" rIns="77259" bIns="38630" anchor="ctr">
            <a:spAutoFit/>
          </a:bodyPr>
          <a:lstStyle/>
          <a:p>
            <a:pPr algn="r" defTabSz="765175" eaLnBrk="0" hangingPunct="0">
              <a:defRPr/>
            </a:pPr>
            <a:fld id="{CFED52EF-2E55-489E-AD91-0A5225B2D725}" type="slidenum">
              <a:rPr lang="en-US" sz="1200">
                <a:latin typeface="Book Antiqua" pitchFamily="18" charset="0"/>
              </a:rPr>
              <a:pPr algn="r" defTabSz="765175" eaLnBrk="0" hangingPunct="0">
                <a:defRPr/>
              </a:pPr>
              <a:t>‹#›</a:t>
            </a:fld>
            <a:endParaRPr lang="en-US" sz="12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9254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76238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54063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30300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08125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" name="Picture 7" descr="jasth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810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8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477000"/>
            <a:ext cx="7696200" cy="228600"/>
          </a:xfrm>
        </p:spPr>
        <p:txBody>
          <a:bodyPr/>
          <a:lstStyle>
            <a:lvl1pPr>
              <a:defRPr sz="1400" b="0"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077200" y="6477000"/>
            <a:ext cx="381000" cy="2286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FD71C3B-D472-47AC-ACDE-B7CC2C8273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5C774-81C5-4559-9640-0BB54B0EC9E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07887-EE06-4E3F-9515-1ED64E674293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629400"/>
            <a:ext cx="822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GB" sz="1400" dirty="0"/>
              <a:t>ICS499</a:t>
            </a:r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AEF9650-5F08-4653-AB6F-BF812F309B7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991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		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87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8199" name="Picture 7" descr="jasthi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5"/>
    </p:custDataLst>
  </p:cSld>
  <p:clrMap bg1="dk2" tx1="lt1" bg2="dk1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4" r:id="rId3"/>
  </p:sldLayoutIdLst>
  <p:transition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SzPct val="200000"/>
        <a:buChar char="•"/>
        <a:defRPr kumimoji="1"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•"/>
        <a:defRPr kumimoji="1" sz="24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–"/>
        <a:defRPr kumimoji="1" sz="20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achefriends.org/download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GhzCOOEUJU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hyperlink" Target="http://localhost/dashboard/phpinfo.php" TargetMode="External"/><Relationship Id="rId4" Type="http://schemas.openxmlformats.org/officeDocument/2006/relationships/hyperlink" Target="https://www.wikihow.com/Install-XAMPP-for-Window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pcookbook/code-3ed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5" Type="http://schemas.openxmlformats.org/officeDocument/2006/relationships/image" Target="../media/image8.png"/><Relationship Id="rId4" Type="http://schemas.openxmlformats.org/officeDocument/2006/relationships/hyperlink" Target="https://github.com/NginxNinja/PHP-and-MySQL-Web-Development-5th-Edi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1. Install XAMPP 8.2.12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73843" y="1164533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7804" y="1163779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1. Download XAMPP 8.2.12 from </a:t>
            </a:r>
            <a:endParaRPr lang="en-US" sz="1600" dirty="0">
              <a:solidFill>
                <a:schemeClr val="bg2"/>
              </a:solidFill>
              <a:hlinkClick r:id="rId3"/>
            </a:endParaRPr>
          </a:p>
          <a:p>
            <a:r>
              <a:rPr lang="en-US" sz="1600" dirty="0">
                <a:solidFill>
                  <a:schemeClr val="bg2"/>
                </a:solidFill>
                <a:hlinkClick r:id="rId3"/>
              </a:rPr>
              <a:t>https://www.apachefriends.org/download.html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</a:p>
          <a:p>
            <a:r>
              <a:rPr lang="en-US" sz="1600" dirty="0">
                <a:solidFill>
                  <a:schemeClr val="bg2"/>
                </a:solidFill>
              </a:rPr>
              <a:t>of what you see on the browser on the next slide.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5083C5-1A54-59BC-9951-B15A0E73A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4800" y="2354243"/>
            <a:ext cx="8534400" cy="38005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51892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A13F-D54F-4629-163E-DD5C4B65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>
            <a:extLst>
              <a:ext uri="{FF2B5EF4-FFF2-40B4-BE49-F238E27FC236}">
                <a16:creationId xmlns:a16="http://schemas.microsoft.com/office/drawing/2014/main" id="{DCD7DBF4-3294-C7E7-CDB0-EB19E5CF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 dirty="0"/>
              <a:t>1. Install XAMPP 8.2.12 (Contd.)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1019EF0-54BC-2AB5-E54D-6D9158F77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843" y="1164533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5F3F11-D40E-DE12-2651-AFEE2C7BC898}"/>
              </a:ext>
            </a:extLst>
          </p:cNvPr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610886-E777-2D19-66E8-E6B778CA75E6}"/>
              </a:ext>
            </a:extLst>
          </p:cNvPr>
          <p:cNvSpPr txBox="1"/>
          <p:nvPr/>
        </p:nvSpPr>
        <p:spPr>
          <a:xfrm>
            <a:off x="347804" y="1163779"/>
            <a:ext cx="8153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2. For installation issues and trouble shooting, please refer to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(Video) </a:t>
            </a:r>
            <a:r>
              <a:rPr lang="en-US" sz="1600" dirty="0">
                <a:solidFill>
                  <a:schemeClr val="bg2"/>
                </a:solidFill>
                <a:hlinkClick r:id="rId3"/>
              </a:rPr>
              <a:t>https://www.youtube.com/watch?v=CGhzCOOEUJU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</a:p>
          <a:p>
            <a:r>
              <a:rPr lang="en-US" sz="1600" dirty="0">
                <a:solidFill>
                  <a:schemeClr val="bg2"/>
                </a:solidFill>
              </a:rPr>
              <a:t>(Wiki) </a:t>
            </a:r>
            <a:r>
              <a:rPr lang="en-US" sz="1600" dirty="0">
                <a:solidFill>
                  <a:schemeClr val="bg2"/>
                </a:solidFill>
                <a:hlinkClick r:id="rId4"/>
              </a:rPr>
              <a:t>https://www.wikihow.com/Install-XAMPP-for-Windows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3. After successful installation and starting Apache, access this link on your browser to see the PHP configuration.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  <a:hlinkClick r:id="rId5"/>
              </a:rPr>
              <a:t>http://localhost/dashboard/phpinfo.php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</a:p>
          <a:p>
            <a:endParaRPr lang="en-US" sz="1600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BA227-8296-F386-78E0-ACDC1C8A3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3940334"/>
            <a:ext cx="4374356" cy="2787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142FD0-52BE-6780-146F-9DA51C9E0291}"/>
              </a:ext>
            </a:extLst>
          </p:cNvPr>
          <p:cNvSpPr txBox="1"/>
          <p:nvPr/>
        </p:nvSpPr>
        <p:spPr>
          <a:xfrm>
            <a:off x="947195" y="5357923"/>
            <a:ext cx="2295693" cy="107721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Install XAMPP</a:t>
            </a:r>
          </a:p>
          <a:p>
            <a:r>
              <a:rPr lang="en-US" sz="1600" dirty="0">
                <a:solidFill>
                  <a:schemeClr val="bg2"/>
                </a:solidFill>
              </a:rPr>
              <a:t>Start XAMPP</a:t>
            </a:r>
          </a:p>
          <a:p>
            <a:r>
              <a:rPr lang="en-US" sz="1600" dirty="0">
                <a:solidFill>
                  <a:schemeClr val="bg2"/>
                </a:solidFill>
              </a:rPr>
              <a:t>Click “Start” for Apache</a:t>
            </a:r>
          </a:p>
          <a:p>
            <a:r>
              <a:rPr lang="en-US" sz="1600" dirty="0">
                <a:solidFill>
                  <a:schemeClr val="bg2"/>
                </a:solidFill>
              </a:rPr>
              <a:t>Access http://localhost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AB0E15-66FC-87D8-1E61-1F542A69AB30}"/>
              </a:ext>
            </a:extLst>
          </p:cNvPr>
          <p:cNvCxnSpPr/>
          <p:nvPr/>
        </p:nvCxnSpPr>
        <p:spPr bwMode="auto">
          <a:xfrm flipV="1">
            <a:off x="3200400" y="5334000"/>
            <a:ext cx="3910012" cy="685800"/>
          </a:xfrm>
          <a:prstGeom prst="straightConnector1">
            <a:avLst/>
          </a:prstGeom>
          <a:solidFill>
            <a:srgbClr val="00FFFF">
              <a:alpha val="50000"/>
            </a:srgb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41265405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914400" y="152400"/>
            <a:ext cx="7461250" cy="808038"/>
          </a:xfrm>
        </p:spPr>
        <p:txBody>
          <a:bodyPr/>
          <a:lstStyle/>
          <a:p>
            <a:pPr eaLnBrk="1" hangingPunct="1"/>
            <a:r>
              <a:rPr lang="en-US" sz="2400" b="0"/>
              <a:t>XAMPP Deployment Issues</a:t>
            </a:r>
            <a:endParaRPr lang="en-US" sz="2400" b="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1295401"/>
            <a:ext cx="8367713" cy="497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/>
              <a:t> 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/>
          </a:p>
        </p:txBody>
      </p:sp>
      <p:sp>
        <p:nvSpPr>
          <p:cNvPr id="3" name="Rectangle 2"/>
          <p:cNvSpPr/>
          <p:nvPr/>
        </p:nvSpPr>
        <p:spPr>
          <a:xfrm>
            <a:off x="381000" y="1524000"/>
            <a:ext cx="8153400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2"/>
              </a:solidFill>
              <a:effectLst/>
              <a:latin typeface="+mj-lt"/>
              <a:ea typeface="Calibri" panose="020F0502020204030204" pitchFamily="34" charset="0"/>
              <a:cs typeface="Gautam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6687" y="1219200"/>
            <a:ext cx="815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(Windows and Mac Users) You may get Port conflict issues. Search </a:t>
            </a:r>
            <a:r>
              <a:rPr lang="en-US" sz="1800" dirty="0" err="1">
                <a:solidFill>
                  <a:schemeClr val="bg2"/>
                </a:solidFill>
              </a:rPr>
              <a:t>StackOverFlow</a:t>
            </a:r>
            <a:r>
              <a:rPr lang="en-US" sz="1800" dirty="0">
                <a:solidFill>
                  <a:schemeClr val="bg2"/>
                </a:solidFill>
              </a:rPr>
              <a:t> or google the error message to figure out how to resolve those issues.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(MAC Users) There were two issues:</a:t>
            </a:r>
          </a:p>
          <a:p>
            <a:r>
              <a:rPr lang="en-US" sz="1800" dirty="0">
                <a:solidFill>
                  <a:schemeClr val="bg2"/>
                </a:solidFill>
              </a:rPr>
              <a:t>1. Site returning an access privilege denial</a:t>
            </a:r>
          </a:p>
          <a:p>
            <a:r>
              <a:rPr lang="en-US" sz="1800" dirty="0">
                <a:solidFill>
                  <a:schemeClr val="bg2"/>
                </a:solidFill>
              </a:rPr>
              <a:t>To solve this make sure rebus file has at least "read" privileges for everyone on your computer. Right click on file, get info, and at bottom give everyone "read" access.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2. When entering link in URL, site downloads files and does not display them.</a:t>
            </a:r>
          </a:p>
          <a:p>
            <a:r>
              <a:rPr lang="en-US" sz="1800" dirty="0">
                <a:solidFill>
                  <a:schemeClr val="bg2"/>
                </a:solidFill>
              </a:rPr>
              <a:t>Try copying all files inside your deployment directory (do not just duplicate the directory) and create a new directory with the copied files. The issue may be coming from hidden files.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457200" indent="-457200">
              <a:buAutoNum type="arabicPeriod"/>
            </a:pPr>
            <a:endParaRPr lang="en-US" sz="18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254362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22860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PHP Cookbook 3</a:t>
            </a:r>
            <a:r>
              <a:rPr lang="en-US" baseline="30000" dirty="0">
                <a:solidFill>
                  <a:schemeClr val="bg2"/>
                </a:solidFill>
              </a:rPr>
              <a:t>rd</a:t>
            </a:r>
            <a:r>
              <a:rPr lang="en-US" dirty="0">
                <a:solidFill>
                  <a:schemeClr val="bg2"/>
                </a:solidFill>
              </a:rPr>
              <a:t>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956" y="1215437"/>
            <a:ext cx="6324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Download PHP Cookbook from this link</a:t>
            </a:r>
          </a:p>
          <a:p>
            <a:r>
              <a:rPr lang="en-US" sz="1600" dirty="0">
                <a:solidFill>
                  <a:schemeClr val="bg1"/>
                </a:solidFill>
                <a:hlinkClick r:id="rId3"/>
              </a:rPr>
              <a:t>https://github.com/phpcookbook/code-3ed</a:t>
            </a:r>
            <a:endParaRPr lang="en-US" sz="1600" dirty="0">
              <a:solidFill>
                <a:schemeClr val="bg1"/>
              </a:solidFill>
            </a:endParaRPr>
          </a:p>
          <a:p>
            <a:br>
              <a:rPr lang="en-US" sz="1600" dirty="0">
                <a:solidFill>
                  <a:schemeClr val="bg2"/>
                </a:solidFill>
              </a:rPr>
            </a:br>
            <a:r>
              <a:rPr lang="en-US" sz="1600" dirty="0">
                <a:solidFill>
                  <a:schemeClr val="bg2"/>
                </a:solidFill>
              </a:rPr>
              <a:t>Extract the contents of this ZIP file to &lt;XAMPP/</a:t>
            </a:r>
            <a:r>
              <a:rPr lang="en-US" sz="1600" dirty="0" err="1">
                <a:solidFill>
                  <a:schemeClr val="bg2"/>
                </a:solidFill>
              </a:rPr>
              <a:t>htdocs</a:t>
            </a:r>
            <a:r>
              <a:rPr lang="en-US" sz="1600" dirty="0">
                <a:solidFill>
                  <a:schemeClr val="bg2"/>
                </a:solidFill>
              </a:rPr>
              <a:t>&gt; directory.</a:t>
            </a:r>
          </a:p>
          <a:p>
            <a:endParaRPr lang="en-US" sz="1600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6" y="5029200"/>
            <a:ext cx="1143000" cy="15493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5334000"/>
            <a:ext cx="2895600" cy="9999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505200"/>
            <a:ext cx="3817135" cy="271462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>
            <a:off x="8001000" y="2443252"/>
            <a:ext cx="228600" cy="2662148"/>
          </a:xfrm>
          <a:prstGeom prst="straightConnector1">
            <a:avLst/>
          </a:prstGeom>
          <a:solidFill>
            <a:srgbClr val="00FFFF">
              <a:alpha val="50000"/>
            </a:srgb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7620000" y="2571929"/>
            <a:ext cx="495300" cy="3262048"/>
          </a:xfrm>
          <a:prstGeom prst="straightConnector1">
            <a:avLst/>
          </a:prstGeom>
          <a:solidFill>
            <a:srgbClr val="00FFFF">
              <a:alpha val="50000"/>
            </a:srgb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629077232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707887-EE06-4E3F-9515-1ED64E674293}" type="slidenum">
              <a:rPr lang="en-GB" smtClean="0"/>
              <a:pPr>
                <a:defRPr/>
              </a:pPr>
              <a:t>5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0600" y="228600"/>
            <a:ext cx="6163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Download the source code (for the book)</a:t>
            </a:r>
          </a:p>
          <a:p>
            <a:r>
              <a:rPr lang="en-US" b="1" dirty="0">
                <a:solidFill>
                  <a:schemeClr val="bg2"/>
                </a:solidFill>
              </a:rPr>
              <a:t>from GitHub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B8A07-0369-41C8-A004-7FA13A2CE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428" y="1390254"/>
            <a:ext cx="1008473" cy="1269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9CF636-795A-48F3-A1EE-FC296BA8C4FB}"/>
              </a:ext>
            </a:extLst>
          </p:cNvPr>
          <p:cNvSpPr txBox="1"/>
          <p:nvPr/>
        </p:nvSpPr>
        <p:spPr>
          <a:xfrm>
            <a:off x="228599" y="1135342"/>
            <a:ext cx="72673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hlinkClick r:id="rId4"/>
              </a:rPr>
              <a:t>https://github.com/NginxNinja</a:t>
            </a:r>
            <a:r>
              <a:rPr lang="en-US">
                <a:solidFill>
                  <a:schemeClr val="bg2"/>
                </a:solidFill>
                <a:hlinkClick r:id="rId4"/>
              </a:rPr>
              <a:t>/PHP-and-MySQL-Web-Development-5th-Edition</a:t>
            </a:r>
            <a:r>
              <a:rPr lang="en-US">
                <a:solidFill>
                  <a:schemeClr val="bg2"/>
                </a:solidFill>
              </a:rPr>
              <a:t> 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17C4D7-49FE-4933-A6D8-C13D4C765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893" y="2641060"/>
            <a:ext cx="9144000" cy="39883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9805360"/>
      </p:ext>
    </p:extLst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jasthi">
  <a:themeElements>
    <a:clrScheme name="jasthi.pot 9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000066"/>
      </a:hlink>
      <a:folHlink>
        <a:srgbClr val="F07600"/>
      </a:folHlink>
    </a:clrScheme>
    <a:fontScheme name="jasthi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asthi.pot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9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000066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Office\Templates\jasthi.pot</Template>
  <TotalTime>1845</TotalTime>
  <Pages>25</Pages>
  <Words>324</Words>
  <Application>Microsoft Office PowerPoint</Application>
  <PresentationFormat>On-screen Show 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 Antiqua</vt:lpstr>
      <vt:lpstr>Times New Roman</vt:lpstr>
      <vt:lpstr>jasthi</vt:lpstr>
      <vt:lpstr>1. Install XAMPP 8.2.12</vt:lpstr>
      <vt:lpstr>1. Install XAMPP 8.2.12 (Contd.)</vt:lpstr>
      <vt:lpstr>XAMPP Deployment Issues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Fundamentals with C++</dc:title>
  <dc:subject>Lecture notes for CmpSc 101, 201, 203</dc:subject>
  <dc:creator>Rick Mercer - Instructor of Engineering and Computer Science</dc:creator>
  <cp:keywords>Chapter 6;C_Unrestricted</cp:keywords>
  <cp:lastModifiedBy>Jasthi, Jasthi (DI SW PLM LCS DEVOPS)</cp:lastModifiedBy>
  <cp:revision>584</cp:revision>
  <cp:lastPrinted>2001-01-24T14:10:52Z</cp:lastPrinted>
  <dcterms:created xsi:type="dcterms:W3CDTF">1996-11-12T16:26:02Z</dcterms:created>
  <dcterms:modified xsi:type="dcterms:W3CDTF">2026-01-22T17:46:18Z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2F7729D9-822F-490E-B637-6C89EB1AAAC2</vt:lpwstr>
  </property>
  <property fmtid="{D5CDD505-2E9C-101B-9397-08002B2CF9AE}" pid="3" name="ArticulatePath">
    <vt:lpwstr>ics370_itertive evolutionary and agile_ch3_4_5_6</vt:lpwstr>
  </property>
  <property fmtid="{D5CDD505-2E9C-101B-9397-08002B2CF9AE}" pid="4" name="Document Confidentiality">
    <vt:lpwstr>Unrestricted</vt:lpwstr>
  </property>
  <property fmtid="{D5CDD505-2E9C-101B-9397-08002B2CF9AE}" pid="5" name="MSIP_Label_6f75f480-7803-4ee9-bb54-84d0635fdbe7_Enabled">
    <vt:lpwstr>true</vt:lpwstr>
  </property>
  <property fmtid="{D5CDD505-2E9C-101B-9397-08002B2CF9AE}" pid="6" name="MSIP_Label_6f75f480-7803-4ee9-bb54-84d0635fdbe7_SetDate">
    <vt:lpwstr>2023-05-09T21:48:33Z</vt:lpwstr>
  </property>
  <property fmtid="{D5CDD505-2E9C-101B-9397-08002B2CF9AE}" pid="7" name="MSIP_Label_6f75f480-7803-4ee9-bb54-84d0635fdbe7_Method">
    <vt:lpwstr>Privileged</vt:lpwstr>
  </property>
  <property fmtid="{D5CDD505-2E9C-101B-9397-08002B2CF9AE}" pid="8" name="MSIP_Label_6f75f480-7803-4ee9-bb54-84d0635fdbe7_Name">
    <vt:lpwstr>unrestricted</vt:lpwstr>
  </property>
  <property fmtid="{D5CDD505-2E9C-101B-9397-08002B2CF9AE}" pid="9" name="MSIP_Label_6f75f480-7803-4ee9-bb54-84d0635fdbe7_SiteId">
    <vt:lpwstr>38ae3bcd-9579-4fd4-adda-b42e1495d55a</vt:lpwstr>
  </property>
  <property fmtid="{D5CDD505-2E9C-101B-9397-08002B2CF9AE}" pid="10" name="MSIP_Label_6f75f480-7803-4ee9-bb54-84d0635fdbe7_ActionId">
    <vt:lpwstr>7e72760f-ac8d-4937-a031-b47039b54289</vt:lpwstr>
  </property>
  <property fmtid="{D5CDD505-2E9C-101B-9397-08002B2CF9AE}" pid="11" name="MSIP_Label_6f75f480-7803-4ee9-bb54-84d0635fdbe7_ContentBits">
    <vt:lpwstr>0</vt:lpwstr>
  </property>
</Properties>
</file>