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420" r:id="rId2"/>
    <p:sldId id="493" r:id="rId3"/>
    <p:sldId id="495" r:id="rId4"/>
    <p:sldId id="496" r:id="rId5"/>
    <p:sldId id="497" r:id="rId6"/>
    <p:sldId id="498" r:id="rId7"/>
    <p:sldId id="494" r:id="rId8"/>
  </p:sldIdLst>
  <p:sldSz cx="9144000" cy="6858000" type="screen4x3"/>
  <p:notesSz cx="6991350" cy="928211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2">
          <p15:clr>
            <a:srgbClr val="A4A3A4"/>
          </p15:clr>
        </p15:guide>
        <p15:guide id="2" pos="22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9191"/>
    <a:srgbClr val="FF3300"/>
    <a:srgbClr val="868686"/>
    <a:srgbClr val="777777"/>
    <a:srgbClr val="DDDDDD"/>
    <a:srgbClr val="CBCBCB"/>
    <a:srgbClr val="001454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1" autoAdjust="0"/>
  </p:normalViewPr>
  <p:slideViewPr>
    <p:cSldViewPr>
      <p:cViewPr varScale="1">
        <p:scale>
          <a:sx n="74" d="100"/>
          <a:sy n="74" d="100"/>
        </p:scale>
        <p:origin x="859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1932" y="-84"/>
      </p:cViewPr>
      <p:guideLst>
        <p:guide orient="horz" pos="2922"/>
        <p:guide pos="22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466725" y="8466138"/>
            <a:ext cx="6135688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653" tIns="47327" rIns="94653" bIns="47327">
            <a:spAutoFit/>
          </a:bodyPr>
          <a:lstStyle/>
          <a:p>
            <a:pPr algn="ctr" defTabSz="939800" eaLnBrk="0" hangingPunct="0">
              <a:defRPr/>
            </a:pPr>
            <a:endParaRPr lang="en-US" sz="11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23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18B7429-D64D-41C4-B7DA-5B48ACDF2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6900"/>
            <a:ext cx="512762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7259" tIns="38630" rIns="77259" bIns="386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8500"/>
            <a:ext cx="4640263" cy="347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6556375" y="8904288"/>
            <a:ext cx="34925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7259" tIns="38630" rIns="77259" bIns="38630" anchor="ctr">
            <a:spAutoFit/>
          </a:bodyPr>
          <a:lstStyle/>
          <a:p>
            <a:pPr algn="r" defTabSz="765175" eaLnBrk="0" hangingPunct="0">
              <a:defRPr/>
            </a:pPr>
            <a:fld id="{CFED52EF-2E55-489E-AD91-0A5225B2D725}" type="slidenum">
              <a:rPr lang="en-US" sz="1200">
                <a:latin typeface="Book Antiqua" pitchFamily="18" charset="0"/>
              </a:rPr>
              <a:pPr algn="r" defTabSz="765175" eaLnBrk="0" hangingPunct="0">
                <a:defRPr/>
              </a:pPr>
              <a:t>‹#›</a:t>
            </a:fld>
            <a:endParaRPr lang="en-US" sz="12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9254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76238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54063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30300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08125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D9016E-14DF-4FDF-A7E3-F5030B969C4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8500"/>
            <a:ext cx="4641850" cy="34813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8488"/>
            <a:ext cx="5126037" cy="41798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31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5" name="Picture 7" descr="jasth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810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8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477000"/>
            <a:ext cx="7696200" cy="228600"/>
          </a:xfrm>
        </p:spPr>
        <p:txBody>
          <a:bodyPr/>
          <a:lstStyle>
            <a:lvl1pPr>
              <a:defRPr sz="1400" b="0"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077200" y="6477000"/>
            <a:ext cx="381000" cy="2286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FD71C3B-D472-47AC-ACDE-B7CC2C8273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5C774-81C5-4559-9640-0BB54B0EC9E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07887-EE06-4E3F-9515-1ED64E674293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629400"/>
            <a:ext cx="822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GB" sz="1400" dirty="0"/>
              <a:t>ICS499</a:t>
            </a:r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AEF9650-5F08-4653-AB6F-BF812F309B7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43000"/>
            <a:ext cx="8991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		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87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8199" name="Picture 7" descr="jasthi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5"/>
    </p:custDataLst>
  </p:cSld>
  <p:clrMap bg1="dk2" tx1="lt1" bg2="dk1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4" r:id="rId3"/>
  </p:sldLayoutIdLst>
  <p:transition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SzPct val="200000"/>
        <a:buChar char="•"/>
        <a:defRPr kumimoji="1"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•"/>
        <a:defRPr kumimoji="1" sz="2400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–"/>
        <a:defRPr kumimoji="1" sz="2000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default.asp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hyperlink" Target="https://www.w3schools.com/php/default.asp" TargetMode="External"/><Relationship Id="rId5" Type="http://schemas.openxmlformats.org/officeDocument/2006/relationships/hyperlink" Target="https://www.w3schools.com/js/default.asp" TargetMode="External"/><Relationship Id="rId4" Type="http://schemas.openxmlformats.org/officeDocument/2006/relationships/hyperlink" Target="https://www.w3schools.com/css/default.a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default.asp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hyperlink" Target="https://www.w3schools.com/html/html_quiz.as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default.asp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hyperlink" Target="https://www.w3schools.com/css/css_quiz.as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default.asp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hyperlink" Target="https://www.w3schools.com/js/js_quiz.as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default.asp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hyperlink" Target="https://www.w3schools.com/php/php_quiz.as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828800"/>
            <a:ext cx="9144000" cy="2133600"/>
          </a:xfrm>
          <a:prstGeom prst="rect">
            <a:avLst/>
          </a:prstGeom>
          <a:solidFill>
            <a:srgbClr val="89A5C7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 b="1" dirty="0">
                <a:solidFill>
                  <a:schemeClr val="bg2"/>
                </a:solidFill>
                <a:latin typeface="Times New Roman" pitchFamily="18" charset="0"/>
              </a:rPr>
              <a:t>Lab 2, Lab 3, Lab4 and Lab 5</a:t>
            </a:r>
          </a:p>
          <a:p>
            <a:pPr algn="ctr" eaLnBrk="0" hangingPunct="0"/>
            <a:r>
              <a:rPr lang="en-US" sz="2000" b="1" dirty="0">
                <a:solidFill>
                  <a:schemeClr val="bg2"/>
                </a:solidFill>
                <a:latin typeface="Times New Roman" pitchFamily="18" charset="0"/>
              </a:rPr>
              <a:t>Exploring HTML, CSS, JavaScript and PHP</a:t>
            </a:r>
          </a:p>
        </p:txBody>
      </p:sp>
      <p:pic>
        <p:nvPicPr>
          <p:cNvPr id="21507" name="Picture 3" descr="jasth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21336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895600" y="4114800"/>
            <a:ext cx="6019800" cy="25146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45000"/>
              </a:spcBef>
            </a:pPr>
            <a:r>
              <a:rPr kumimoji="1" lang="en-US" sz="2000" b="1" dirty="0">
                <a:solidFill>
                  <a:schemeClr val="bg2"/>
                </a:solidFill>
              </a:rPr>
              <a:t>Siva R </a:t>
            </a:r>
            <a:r>
              <a:rPr kumimoji="1" lang="en-US" sz="2000" b="1" dirty="0" err="1">
                <a:solidFill>
                  <a:schemeClr val="bg2"/>
                </a:solidFill>
              </a:rPr>
              <a:t>Jasthi</a:t>
            </a:r>
            <a:endParaRPr kumimoji="1" lang="en-US" sz="1600" dirty="0">
              <a:solidFill>
                <a:schemeClr val="bg2"/>
              </a:solidFill>
            </a:endParaRPr>
          </a:p>
          <a:p>
            <a:pPr eaLnBrk="0" hangingPunct="0">
              <a:spcBef>
                <a:spcPct val="45000"/>
              </a:spcBef>
            </a:pPr>
            <a:r>
              <a:rPr kumimoji="1" lang="en-US" sz="1600" dirty="0">
                <a:solidFill>
                  <a:schemeClr val="bg2"/>
                </a:solidFill>
              </a:rPr>
              <a:t>ICS325</a:t>
            </a:r>
          </a:p>
          <a:p>
            <a:pPr eaLnBrk="0" hangingPunct="0">
              <a:spcBef>
                <a:spcPct val="45000"/>
              </a:spcBef>
            </a:pPr>
            <a:r>
              <a:rPr kumimoji="1" lang="en-US" sz="1600" dirty="0">
                <a:solidFill>
                  <a:schemeClr val="bg2"/>
                </a:solidFill>
              </a:rPr>
              <a:t>Computer Science and Cyber Security </a:t>
            </a:r>
          </a:p>
          <a:p>
            <a:pPr eaLnBrk="0" hangingPunct="0">
              <a:spcBef>
                <a:spcPct val="45000"/>
              </a:spcBef>
            </a:pPr>
            <a:r>
              <a:rPr kumimoji="1" lang="en-US" sz="1600" dirty="0">
                <a:solidFill>
                  <a:schemeClr val="bg2"/>
                </a:solidFill>
              </a:rPr>
              <a:t>Metropolitan State University</a:t>
            </a:r>
          </a:p>
        </p:txBody>
      </p:sp>
    </p:spTree>
    <p:custDataLst>
      <p:tags r:id="rId1"/>
    </p:custData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 dirty="0"/>
              <a:t>Lab 2, 3, 4 and 5: Overview 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1295401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2250" y="1295401"/>
            <a:ext cx="81534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You will explore web technologies in Lab 2, Lab 3, Lab 4 and Lab 5.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These resources are helpful to know about HTML, CSS, JavaScript and PHP.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HTML:</a:t>
            </a:r>
          </a:p>
          <a:p>
            <a:r>
              <a:rPr lang="en-US" sz="1400" dirty="0">
                <a:solidFill>
                  <a:schemeClr val="bg2"/>
                </a:solidFill>
                <a:hlinkClick r:id="rId3"/>
              </a:rPr>
              <a:t>https://www.w3schools.com/html/default.asp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CSS:</a:t>
            </a:r>
          </a:p>
          <a:p>
            <a:r>
              <a:rPr lang="en-US" sz="1400" dirty="0">
                <a:solidFill>
                  <a:schemeClr val="bg2"/>
                </a:solidFill>
                <a:hlinkClick r:id="rId4"/>
              </a:rPr>
              <a:t>https://www.w3schools.com/css/default.asp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JavaScript:</a:t>
            </a:r>
          </a:p>
          <a:p>
            <a:r>
              <a:rPr lang="en-US" sz="1400" dirty="0">
                <a:solidFill>
                  <a:schemeClr val="bg2"/>
                </a:solidFill>
                <a:hlinkClick r:id="rId5"/>
              </a:rPr>
              <a:t>https://www.w3schools.com/js/default.asp</a:t>
            </a:r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PHP</a:t>
            </a:r>
          </a:p>
          <a:p>
            <a:r>
              <a:rPr lang="en-US" sz="1400" dirty="0">
                <a:solidFill>
                  <a:schemeClr val="bg2"/>
                </a:solidFill>
                <a:hlinkClick r:id="rId6"/>
              </a:rPr>
              <a:t>https://www.w3schools.com/php/default.asp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242020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 dirty="0"/>
              <a:t>Lab 2: Review HTML and Take Quiz (40 points)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1295401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2250" y="1295401"/>
            <a:ext cx="81534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In this Lab, you will explore HTML and CSS technologies.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These resources are helpful to know about HTML.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HTML:</a:t>
            </a:r>
          </a:p>
          <a:p>
            <a:r>
              <a:rPr lang="en-US" sz="1400" dirty="0">
                <a:solidFill>
                  <a:schemeClr val="bg2"/>
                </a:solidFill>
                <a:hlinkClick r:id="rId3"/>
              </a:rPr>
              <a:t>https://www.w3schools.com/html/default.asp</a:t>
            </a:r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Take HTML Quiz from this link.</a:t>
            </a:r>
          </a:p>
          <a:p>
            <a:r>
              <a:rPr lang="en-US" sz="1400" dirty="0">
                <a:solidFill>
                  <a:schemeClr val="bg2"/>
                </a:solidFill>
                <a:hlinkClick r:id="rId4"/>
              </a:rPr>
              <a:t>https://www.w3schools.com/html/html_quiz.asp</a:t>
            </a:r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You can take the HTML quiz any number of times.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Submit your final score (a screenshot) to D2L </a:t>
            </a:r>
            <a:r>
              <a:rPr lang="en-US" sz="1400" dirty="0" err="1">
                <a:solidFill>
                  <a:schemeClr val="bg2"/>
                </a:solidFill>
              </a:rPr>
              <a:t>dropbox</a:t>
            </a:r>
            <a:r>
              <a:rPr lang="en-US" sz="1400" dirty="0">
                <a:solidFill>
                  <a:schemeClr val="bg2"/>
                </a:solidFill>
              </a:rPr>
              <a:t> for Lab2.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78860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 dirty="0"/>
              <a:t>Lab 3: Review CSS and Take Quiz (25 points)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1295401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2250" y="1295401"/>
            <a:ext cx="8153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In this Lab, you will explore CSS technologies.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These resources are helpful to know about CSS.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CSS:</a:t>
            </a:r>
          </a:p>
          <a:p>
            <a:r>
              <a:rPr lang="en-US" sz="1400" dirty="0">
                <a:solidFill>
                  <a:schemeClr val="bg2"/>
                </a:solidFill>
                <a:hlinkClick r:id="rId3"/>
              </a:rPr>
              <a:t>https://www.w3schools.com/css/default.asp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Take CSS Quiz from this link. </a:t>
            </a:r>
          </a:p>
          <a:p>
            <a:r>
              <a:rPr lang="en-US" sz="1400" dirty="0">
                <a:solidFill>
                  <a:schemeClr val="bg2"/>
                </a:solidFill>
                <a:hlinkClick r:id="rId4"/>
              </a:rPr>
              <a:t>https://www.w3schools.com/css/css_quiz.asp</a:t>
            </a:r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You can take the CSS quiz any number of times.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Submit your final score (a screenshot) to D2L </a:t>
            </a:r>
            <a:r>
              <a:rPr lang="en-US" sz="1400" dirty="0" err="1">
                <a:solidFill>
                  <a:schemeClr val="bg2"/>
                </a:solidFill>
              </a:rPr>
              <a:t>dropbox</a:t>
            </a:r>
            <a:r>
              <a:rPr lang="en-US" sz="1400" dirty="0">
                <a:solidFill>
                  <a:schemeClr val="bg2"/>
                </a:solidFill>
              </a:rPr>
              <a:t> for Lab3.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96281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 dirty="0"/>
              <a:t>Lab 4: Review JavaScript  and Take Quiz (25 points)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1295401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2250" y="1295401"/>
            <a:ext cx="81534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In this Lab, you will explore JavaScript.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These resources are helpful to know about JavaScript.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JavaScript:</a:t>
            </a:r>
          </a:p>
          <a:p>
            <a:r>
              <a:rPr lang="en-US" sz="1400" dirty="0">
                <a:solidFill>
                  <a:schemeClr val="bg2"/>
                </a:solidFill>
                <a:hlinkClick r:id="rId3"/>
              </a:rPr>
              <a:t>https://www.w3schools.com/js/default.asp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Take JavaScript Quiz from this link. </a:t>
            </a:r>
          </a:p>
          <a:p>
            <a:r>
              <a:rPr lang="en-US" sz="1400" dirty="0">
                <a:solidFill>
                  <a:schemeClr val="bg2"/>
                </a:solidFill>
                <a:hlinkClick r:id="rId4"/>
              </a:rPr>
              <a:t>https://www.w3schools.com/js/js_quiz.asp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You can take the JavaScript quiz any number of times.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Submit your final score (a screenshot) to D2L </a:t>
            </a:r>
            <a:r>
              <a:rPr lang="en-US" sz="1400" dirty="0" err="1">
                <a:solidFill>
                  <a:schemeClr val="bg2"/>
                </a:solidFill>
              </a:rPr>
              <a:t>dropbox</a:t>
            </a:r>
            <a:r>
              <a:rPr lang="en-US" sz="1400" dirty="0">
                <a:solidFill>
                  <a:schemeClr val="bg2"/>
                </a:solidFill>
              </a:rPr>
              <a:t> for Lab 4.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11437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 dirty="0"/>
              <a:t>Lab 5: Review PHP and Take Quiz (25 points)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1295401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2250" y="1295401"/>
            <a:ext cx="8153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In this Lab, you will explore PHP.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These resources are helpful to know about PHP.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Learn PHP:</a:t>
            </a:r>
          </a:p>
          <a:p>
            <a:r>
              <a:rPr lang="en-US" sz="1400" dirty="0">
                <a:solidFill>
                  <a:schemeClr val="bg2"/>
                </a:solidFill>
                <a:hlinkClick r:id="rId3"/>
              </a:rPr>
              <a:t>https://www.w3schools.com/php/default.asp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Take PHP Quiz from this link. </a:t>
            </a:r>
          </a:p>
          <a:p>
            <a:r>
              <a:rPr lang="en-US" sz="1400" dirty="0">
                <a:solidFill>
                  <a:schemeClr val="bg2"/>
                </a:solidFill>
                <a:hlinkClick r:id="rId4"/>
              </a:rPr>
              <a:t>https://www.w3schools.com/php/php_quiz.asp</a:t>
            </a:r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You can take the PHP quiz any number of times.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Submit your final score (a screenshot) to D2L </a:t>
            </a:r>
            <a:r>
              <a:rPr lang="en-US" sz="1400" dirty="0" err="1">
                <a:solidFill>
                  <a:schemeClr val="bg2"/>
                </a:solidFill>
              </a:rPr>
              <a:t>dropbox</a:t>
            </a:r>
            <a:r>
              <a:rPr lang="en-US" sz="1400" dirty="0">
                <a:solidFill>
                  <a:schemeClr val="bg2"/>
                </a:solidFill>
              </a:rPr>
              <a:t> for Lab 5.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84835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/>
              <a:t>What to submit to the dropbox?</a:t>
            </a:r>
            <a:endParaRPr lang="en-US" sz="2400" b="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1295401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481080"/>
            <a:ext cx="81470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Submit your HTML Quiz score (screen shot) to Lab 2 drop box.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Submit your CSS Quiz score (screen shot) to Lab 3 drop box.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Submit your JavaScript Quiz score (screen shot) to Lab 4 drop box.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Submit your PHP Quiz score (screen shot) to Lab 5 drop box.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663417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jasthi">
  <a:themeElements>
    <a:clrScheme name="jasthi.pot 9">
      <a:dk1>
        <a:srgbClr val="220011"/>
      </a:dk1>
      <a:lt1>
        <a:srgbClr val="FFFFFF"/>
      </a:lt1>
      <a:dk2>
        <a:srgbClr val="0F3A68"/>
      </a:dk2>
      <a:lt2>
        <a:srgbClr val="FFFFFF"/>
      </a:lt2>
      <a:accent1>
        <a:srgbClr val="CAD704"/>
      </a:accent1>
      <a:accent2>
        <a:srgbClr val="204658"/>
      </a:accent2>
      <a:accent3>
        <a:srgbClr val="AAAEB9"/>
      </a:accent3>
      <a:accent4>
        <a:srgbClr val="DADADA"/>
      </a:accent4>
      <a:accent5>
        <a:srgbClr val="E1E8AA"/>
      </a:accent5>
      <a:accent6>
        <a:srgbClr val="1C3F4F"/>
      </a:accent6>
      <a:hlink>
        <a:srgbClr val="000066"/>
      </a:hlink>
      <a:folHlink>
        <a:srgbClr val="F07600"/>
      </a:folHlink>
    </a:clrScheme>
    <a:fontScheme name="jasthi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jasthi.pot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7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8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FFC94C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9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000066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Office\Templates\jasthi.pot</Template>
  <TotalTime>1844</TotalTime>
  <Pages>25</Pages>
  <Words>588</Words>
  <Application>Microsoft Office PowerPoint</Application>
  <PresentationFormat>On-screen Show (4:3)</PresentationFormat>
  <Paragraphs>113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 Antiqua</vt:lpstr>
      <vt:lpstr>Times New Roman</vt:lpstr>
      <vt:lpstr>jasthi</vt:lpstr>
      <vt:lpstr>PowerPoint Presentation</vt:lpstr>
      <vt:lpstr>Lab 2, 3, 4 and 5: Overview  </vt:lpstr>
      <vt:lpstr>Lab 2: Review HTML and Take Quiz (40 points)</vt:lpstr>
      <vt:lpstr>Lab 3: Review CSS and Take Quiz (25 points)</vt:lpstr>
      <vt:lpstr>Lab 4: Review JavaScript  and Take Quiz (25 points)</vt:lpstr>
      <vt:lpstr>Lab 5: Review PHP and Take Quiz (25 points)</vt:lpstr>
      <vt:lpstr>What to submit to the dropbox?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Fundamentals with C++</dc:title>
  <dc:subject>Lecture notes for CmpSc 101, 201, 203</dc:subject>
  <dc:creator>Rick Mercer - Instructor of Engineering and Computer Science</dc:creator>
  <cp:keywords>Chapter 6;C_Unrestricted</cp:keywords>
  <cp:lastModifiedBy>Jasthi, Jasthi (DI SW PLM LCS DEVOPS)</cp:lastModifiedBy>
  <cp:revision>590</cp:revision>
  <cp:lastPrinted>2001-01-24T14:10:52Z</cp:lastPrinted>
  <dcterms:created xsi:type="dcterms:W3CDTF">1996-11-12T16:26:02Z</dcterms:created>
  <dcterms:modified xsi:type="dcterms:W3CDTF">2026-01-22T17:49:44Z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2F7729D9-822F-490E-B637-6C89EB1AAAC2</vt:lpwstr>
  </property>
  <property fmtid="{D5CDD505-2E9C-101B-9397-08002B2CF9AE}" pid="3" name="ArticulatePath">
    <vt:lpwstr>ics370_itertive evolutionary and agile_ch3_4_5_6</vt:lpwstr>
  </property>
  <property fmtid="{D5CDD505-2E9C-101B-9397-08002B2CF9AE}" pid="4" name="Document Confidentiality">
    <vt:lpwstr>Unrestricted</vt:lpwstr>
  </property>
  <property fmtid="{D5CDD505-2E9C-101B-9397-08002B2CF9AE}" pid="5" name="MSIP_Label_6f75f480-7803-4ee9-bb54-84d0635fdbe7_Enabled">
    <vt:lpwstr>true</vt:lpwstr>
  </property>
  <property fmtid="{D5CDD505-2E9C-101B-9397-08002B2CF9AE}" pid="6" name="MSIP_Label_6f75f480-7803-4ee9-bb54-84d0635fdbe7_SetDate">
    <vt:lpwstr>2023-05-09T21:48:33Z</vt:lpwstr>
  </property>
  <property fmtid="{D5CDD505-2E9C-101B-9397-08002B2CF9AE}" pid="7" name="MSIP_Label_6f75f480-7803-4ee9-bb54-84d0635fdbe7_Method">
    <vt:lpwstr>Privileged</vt:lpwstr>
  </property>
  <property fmtid="{D5CDD505-2E9C-101B-9397-08002B2CF9AE}" pid="8" name="MSIP_Label_6f75f480-7803-4ee9-bb54-84d0635fdbe7_Name">
    <vt:lpwstr>unrestricted</vt:lpwstr>
  </property>
  <property fmtid="{D5CDD505-2E9C-101B-9397-08002B2CF9AE}" pid="9" name="MSIP_Label_6f75f480-7803-4ee9-bb54-84d0635fdbe7_SiteId">
    <vt:lpwstr>38ae3bcd-9579-4fd4-adda-b42e1495d55a</vt:lpwstr>
  </property>
  <property fmtid="{D5CDD505-2E9C-101B-9397-08002B2CF9AE}" pid="10" name="MSIP_Label_6f75f480-7803-4ee9-bb54-84d0635fdbe7_ActionId">
    <vt:lpwstr>7e72760f-ac8d-4937-a031-b47039b54289</vt:lpwstr>
  </property>
  <property fmtid="{D5CDD505-2E9C-101B-9397-08002B2CF9AE}" pid="11" name="MSIP_Label_6f75f480-7803-4ee9-bb54-84d0635fdbe7_ContentBits">
    <vt:lpwstr>0</vt:lpwstr>
  </property>
</Properties>
</file>